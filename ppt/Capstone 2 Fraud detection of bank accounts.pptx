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71" r:id="rId14"/>
    <p:sldId id="268" r:id="rId15"/>
    <p:sldId id="269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spc="3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1F288-46EE-4413-B2C8-7AD2957916A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1D340-E570-4628-8897-DFFCD2234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9456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1F288-46EE-4413-B2C8-7AD2957916A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1D340-E570-4628-8897-DFFCD22345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72576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 spc="3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1F288-46EE-4413-B2C8-7AD2957916A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1D340-E570-4628-8897-DFFCD22345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10875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1F288-46EE-4413-B2C8-7AD2957916A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1D340-E570-4628-8897-DFFCD22345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8023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1F288-46EE-4413-B2C8-7AD2957916A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1D340-E570-4628-8897-DFFCD223459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17405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1F288-46EE-4413-B2C8-7AD2957916A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1D340-E570-4628-8897-DFFCD223459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93539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1F288-46EE-4413-B2C8-7AD2957916A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1D340-E570-4628-8897-DFFCD223459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06015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2800"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1F288-46EE-4413-B2C8-7AD2957916A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1D340-E570-4628-8897-DFFCD2234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285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 baseline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1F288-46EE-4413-B2C8-7AD2957916A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1D340-E570-4628-8897-DFFCD2234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960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1F288-46EE-4413-B2C8-7AD2957916A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1D340-E570-4628-8897-DFFCD223459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50690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1F288-46EE-4413-B2C8-7AD2957916A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1D340-E570-4628-8897-DFFCD223459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78741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294198"/>
            <a:ext cx="9692640" cy="1397124"/>
          </a:xfrm>
          <a:prstGeom prst="rect">
            <a:avLst/>
          </a:prstGeo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A7F1F288-46EE-4413-B2C8-7AD2957916A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fld id="{74E1D340-E570-4628-8897-DFFCD2234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442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spc="-5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2000" kern="1200" spc="1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sgpjesus/bank-account-fraud-dataset-neurips-2022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2AA30-7547-5803-9CC6-59304AA153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3"/>
            <a:ext cx="10002758" cy="1916154"/>
          </a:xfrm>
        </p:spPr>
        <p:txBody>
          <a:bodyPr>
            <a:normAutofit/>
          </a:bodyPr>
          <a:lstStyle/>
          <a:p>
            <a:r>
              <a:rPr lang="en-US" sz="4400" dirty="0"/>
              <a:t>Fraud detection of bank accounts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19D3-A5C8-883C-B736-C78F7C1A8C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3244168"/>
            <a:ext cx="9418320" cy="1691640"/>
          </a:xfrm>
        </p:spPr>
        <p:txBody>
          <a:bodyPr/>
          <a:lstStyle/>
          <a:p>
            <a:r>
              <a:rPr lang="en-US" b="1" dirty="0"/>
              <a:t>Jinhui Shen</a:t>
            </a:r>
          </a:p>
          <a:p>
            <a:r>
              <a:rPr lang="en-US" dirty="0"/>
              <a:t>Special acknowledge to mentor</a:t>
            </a:r>
          </a:p>
          <a:p>
            <a:r>
              <a:rPr lang="en-US" b="1" dirty="0"/>
              <a:t>David Lara Arango</a:t>
            </a:r>
          </a:p>
        </p:txBody>
      </p:sp>
    </p:spTree>
    <p:extLst>
      <p:ext uri="{BB962C8B-B14F-4D97-AF65-F5344CB8AC3E}">
        <p14:creationId xmlns:p14="http://schemas.microsoft.com/office/powerpoint/2010/main" val="1434767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A2C61-91B3-C517-FB3C-89A4D3028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46566-7C26-88F6-638C-1D649DEFE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Overview</a:t>
            </a:r>
          </a:p>
          <a:p>
            <a:r>
              <a:rPr lang="en-US" dirty="0"/>
              <a:t>Data Source and Wrangling</a:t>
            </a:r>
          </a:p>
          <a:p>
            <a:r>
              <a:rPr lang="en-US" dirty="0"/>
              <a:t>Exploratory Data Analysis (EDA)</a:t>
            </a:r>
          </a:p>
          <a:p>
            <a:r>
              <a:rPr lang="en-US" dirty="0"/>
              <a:t>Preprocessing, Modeling and Evaluation Metrics</a:t>
            </a:r>
          </a:p>
          <a:p>
            <a:r>
              <a:rPr lang="en-US" dirty="0"/>
              <a:t>Comparison</a:t>
            </a:r>
          </a:p>
          <a:p>
            <a:r>
              <a:rPr lang="en-US" dirty="0"/>
              <a:t>Conclusion</a:t>
            </a:r>
          </a:p>
          <a:p>
            <a:r>
              <a:rPr lang="en-US" dirty="0"/>
              <a:t>Future Work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605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7A1E2-52C6-D6D4-5F3C-A724E9DE6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789FD-DB30-7833-D336-1B1074EA6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aims to build a machine learning model for bank account fraud detection.</a:t>
            </a:r>
          </a:p>
          <a:p>
            <a:r>
              <a:rPr lang="en-US" dirty="0"/>
              <a:t>It can be used to alert the bank and minimize financial loss. </a:t>
            </a:r>
          </a:p>
          <a:p>
            <a:r>
              <a:rPr lang="en-US" dirty="0"/>
              <a:t>Fraud events are quite less compared to not fraud events.</a:t>
            </a:r>
          </a:p>
        </p:txBody>
      </p:sp>
    </p:spTree>
    <p:extLst>
      <p:ext uri="{BB962C8B-B14F-4D97-AF65-F5344CB8AC3E}">
        <p14:creationId xmlns:p14="http://schemas.microsoft.com/office/powerpoint/2010/main" val="854180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13AFD-7760-4FE6-5673-7F7A8A8DC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292DD-0745-D2A6-CD94-6E51FEF5F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Kaggle dataset: Base.csv</a:t>
            </a:r>
          </a:p>
          <a:p>
            <a:r>
              <a:rPr lang="en-US" dirty="0"/>
              <a:t>Downloaded from </a:t>
            </a:r>
            <a:r>
              <a:rPr lang="en-US" dirty="0">
                <a:hlinkClick r:id="rId2"/>
              </a:rPr>
              <a:t>https://www.kaggle.com/datasets/sgpjesus/bank-account-fraud-dataset-neurips-2022</a:t>
            </a:r>
            <a:endParaRPr lang="en-US" dirty="0"/>
          </a:p>
          <a:p>
            <a:r>
              <a:rPr lang="en-US" dirty="0"/>
              <a:t>Data covers information of fraud status, and applicant’s other information such as: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age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income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request country origin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housing and employment status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initial amount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risk score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proposed credit limit, etc.</a:t>
            </a:r>
          </a:p>
        </p:txBody>
      </p:sp>
    </p:spTree>
    <p:extLst>
      <p:ext uri="{BB962C8B-B14F-4D97-AF65-F5344CB8AC3E}">
        <p14:creationId xmlns:p14="http://schemas.microsoft.com/office/powerpoint/2010/main" val="558531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855D-5E30-FC14-A9A9-3D5D52317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Wrangling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D0C2F-F31B-15AC-E8EF-57EF3AC1D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10177856" cy="4351337"/>
          </a:xfrm>
        </p:spPr>
        <p:txBody>
          <a:bodyPr/>
          <a:lstStyle/>
          <a:p>
            <a:r>
              <a:rPr lang="en-US" dirty="0"/>
              <a:t>Duplicated records check</a:t>
            </a:r>
          </a:p>
          <a:p>
            <a:r>
              <a:rPr lang="en-US" dirty="0"/>
              <a:t>Unique values check in categorical features</a:t>
            </a:r>
          </a:p>
          <a:p>
            <a:r>
              <a:rPr lang="en-US" dirty="0"/>
              <a:t>Negative values check in numeric features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3834D6-1C6C-3D9A-8B82-55970A8FA2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489542"/>
              </p:ext>
            </p:extLst>
          </p:nvPr>
        </p:nvGraphicFramePr>
        <p:xfrm>
          <a:off x="1477625" y="3536004"/>
          <a:ext cx="8785056" cy="25048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01801">
                  <a:extLst>
                    <a:ext uri="{9D8B030D-6E8A-4147-A177-3AD203B41FA5}">
                      <a16:colId xmlns:a16="http://schemas.microsoft.com/office/drawing/2014/main" val="4257475684"/>
                    </a:ext>
                  </a:extLst>
                </a:gridCol>
                <a:gridCol w="3683255">
                  <a:extLst>
                    <a:ext uri="{9D8B030D-6E8A-4147-A177-3AD203B41FA5}">
                      <a16:colId xmlns:a16="http://schemas.microsoft.com/office/drawing/2014/main" val="1766042962"/>
                    </a:ext>
                  </a:extLst>
                </a:gridCol>
              </a:tblGrid>
              <a:tr h="163277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`</a:t>
                      </a:r>
                      <a:r>
                        <a:rPr lang="en-US" sz="1400" u="none" strike="noStrike" dirty="0" err="1">
                          <a:effectLst/>
                        </a:rPr>
                        <a:t>prev_address_months_count</a:t>
                      </a:r>
                      <a:r>
                        <a:rPr lang="en-US" sz="1400" u="none" strike="noStrike" dirty="0">
                          <a:effectLst/>
                        </a:rPr>
                        <a:t>`, `</a:t>
                      </a:r>
                      <a:r>
                        <a:rPr lang="en-US" sz="1400" u="none" strike="noStrike" dirty="0" err="1">
                          <a:effectLst/>
                        </a:rPr>
                        <a:t>bank_months_count</a:t>
                      </a:r>
                      <a:r>
                        <a:rPr lang="en-US" sz="1400" u="none" strike="noStrike" dirty="0">
                          <a:effectLst/>
                        </a:rPr>
                        <a:t>`, `</a:t>
                      </a:r>
                      <a:r>
                        <a:rPr lang="en-US" sz="1400" u="none" strike="noStrike" dirty="0" err="1">
                          <a:effectLst/>
                        </a:rPr>
                        <a:t>current_address_months_count</a:t>
                      </a:r>
                      <a:r>
                        <a:rPr lang="en-US" sz="1400" u="none" strike="noStrike" dirty="0">
                          <a:effectLst/>
                        </a:rPr>
                        <a:t>`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03" marR="6803" marT="680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missing value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03" marR="6803" marT="6803" marB="0" anchor="ctr"/>
                </a:tc>
                <a:extLst>
                  <a:ext uri="{0D108BD9-81ED-4DB2-BD59-A6C34878D82A}">
                    <a16:rowId xmlns:a16="http://schemas.microsoft.com/office/drawing/2014/main" val="1986467524"/>
                  </a:ext>
                </a:extLst>
              </a:tr>
              <a:tr h="40085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`</a:t>
                      </a:r>
                      <a:r>
                        <a:rPr lang="en-US" sz="1400" u="none" strike="noStrike" dirty="0" err="1">
                          <a:effectLst/>
                        </a:rPr>
                        <a:t>session_length_in_minutes</a:t>
                      </a:r>
                      <a:r>
                        <a:rPr lang="en-US" sz="1400" u="none" strike="noStrike" dirty="0">
                          <a:effectLst/>
                        </a:rPr>
                        <a:t>`, `device_distinct_emails_8w`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03" marR="6803" marT="680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missing value, all -1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03" marR="6803" marT="6803" marB="0" anchor="ctr"/>
                </a:tc>
                <a:extLst>
                  <a:ext uri="{0D108BD9-81ED-4DB2-BD59-A6C34878D82A}">
                    <a16:rowId xmlns:a16="http://schemas.microsoft.com/office/drawing/2014/main" val="212412392"/>
                  </a:ext>
                </a:extLst>
              </a:tr>
              <a:tr h="163277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`velocity_6h`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03" marR="6803" marT="680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missing value, continuous, checked with data source author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03" marR="6803" marT="6803" marB="0" anchor="ctr"/>
                </a:tc>
                <a:extLst>
                  <a:ext uri="{0D108BD9-81ED-4DB2-BD59-A6C34878D82A}">
                    <a16:rowId xmlns:a16="http://schemas.microsoft.com/office/drawing/2014/main" val="2971242874"/>
                  </a:ext>
                </a:extLst>
              </a:tr>
              <a:tr h="163277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`intended_balcon_amount`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03" marR="6803" marT="680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missing value, initial deposit, continuous, checked with author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03" marR="6803" marT="6803" marB="0" anchor="ctr"/>
                </a:tc>
                <a:extLst>
                  <a:ext uri="{0D108BD9-81ED-4DB2-BD59-A6C34878D82A}">
                    <a16:rowId xmlns:a16="http://schemas.microsoft.com/office/drawing/2014/main" val="880115657"/>
                  </a:ext>
                </a:extLst>
              </a:tr>
              <a:tr h="163277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`intended_balcon_amount_negative`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03" marR="6803" marT="680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categorical feature added, to show missing value imputed portion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03" marR="6803" marT="6803" marB="0" anchor="ctr"/>
                </a:tc>
                <a:extLst>
                  <a:ext uri="{0D108BD9-81ED-4DB2-BD59-A6C34878D82A}">
                    <a16:rowId xmlns:a16="http://schemas.microsoft.com/office/drawing/2014/main" val="3222616268"/>
                  </a:ext>
                </a:extLst>
              </a:tr>
              <a:tr h="36992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`credit_risk_score`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03" marR="6803" marT="680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continuous, rescaled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03" marR="6803" marT="6803" marB="0" anchor="ctr"/>
                </a:tc>
                <a:extLst>
                  <a:ext uri="{0D108BD9-81ED-4DB2-BD59-A6C34878D82A}">
                    <a16:rowId xmlns:a16="http://schemas.microsoft.com/office/drawing/2014/main" val="1138724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2820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13CA5-73F6-95C8-8994-D9E33090F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Wrangling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E4468-A47D-94E2-4355-DFCE7DAD9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9934664" cy="4351337"/>
          </a:xfrm>
        </p:spPr>
        <p:txBody>
          <a:bodyPr/>
          <a:lstStyle/>
          <a:p>
            <a:r>
              <a:rPr lang="en-US" dirty="0"/>
              <a:t>Missing values imputation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4D54225-EB82-A690-AA30-77962AB73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94" y="2312667"/>
            <a:ext cx="6562169" cy="2232666"/>
          </a:xfrm>
          <a:prstGeom prst="rect">
            <a:avLst/>
          </a:prstGeom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16ACCC06-1BBD-2D81-A6FC-905C3716E0A8}"/>
              </a:ext>
            </a:extLst>
          </p:cNvPr>
          <p:cNvSpPr/>
          <p:nvPr/>
        </p:nvSpPr>
        <p:spPr>
          <a:xfrm>
            <a:off x="8088263" y="3560323"/>
            <a:ext cx="258069" cy="87549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8AB3DD15-E5AA-465B-C28C-284F068699D4}"/>
              </a:ext>
            </a:extLst>
          </p:cNvPr>
          <p:cNvSpPr/>
          <p:nvPr/>
        </p:nvSpPr>
        <p:spPr>
          <a:xfrm>
            <a:off x="8088263" y="2743200"/>
            <a:ext cx="258069" cy="63104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615917-F52C-0206-1A4E-21A28E70A722}"/>
              </a:ext>
            </a:extLst>
          </p:cNvPr>
          <p:cNvSpPr txBox="1"/>
          <p:nvPr/>
        </p:nvSpPr>
        <p:spPr>
          <a:xfrm>
            <a:off x="8346332" y="2874054"/>
            <a:ext cx="24086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median imputation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DF4CEB-9853-72A3-486B-A09F244ED2B0}"/>
              </a:ext>
            </a:extLst>
          </p:cNvPr>
          <p:cNvSpPr txBox="1"/>
          <p:nvPr/>
        </p:nvSpPr>
        <p:spPr>
          <a:xfrm>
            <a:off x="8346332" y="3804773"/>
            <a:ext cx="24086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&lt;1%, dropped</a:t>
            </a:r>
          </a:p>
        </p:txBody>
      </p:sp>
    </p:spTree>
    <p:extLst>
      <p:ext uri="{BB962C8B-B14F-4D97-AF65-F5344CB8AC3E}">
        <p14:creationId xmlns:p14="http://schemas.microsoft.com/office/powerpoint/2010/main" val="1737191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5A2D5-60BB-3C22-035D-FE74E47B2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CC6A2-5E08-BEC3-B4B9-F1D46615B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imbalance: fraud records only 1.1%</a:t>
            </a:r>
          </a:p>
          <a:p>
            <a:r>
              <a:rPr lang="en-US" dirty="0"/>
              <a:t>Categorical features: statistics summary, visualization of normalized count difference plots between classes</a:t>
            </a:r>
          </a:p>
          <a:p>
            <a:r>
              <a:rPr lang="en-US" dirty="0"/>
              <a:t>Numeric features: statistics summary, weighted histogram visualization and box plots between classes, </a:t>
            </a:r>
            <a:r>
              <a:rPr lang="en-US" dirty="0" err="1"/>
              <a:t>pairplot</a:t>
            </a:r>
            <a:r>
              <a:rPr lang="en-US" dirty="0"/>
              <a:t> and correlation matrix heat maps</a:t>
            </a:r>
          </a:p>
          <a:p>
            <a:r>
              <a:rPr lang="en-US" dirty="0"/>
              <a:t>`</a:t>
            </a:r>
            <a:r>
              <a:rPr lang="en-US" dirty="0" err="1"/>
              <a:t>device_fraud_count</a:t>
            </a:r>
            <a:r>
              <a:rPr lang="en-US" dirty="0"/>
              <a:t>`: no difference between classes, dropped.</a:t>
            </a:r>
          </a:p>
        </p:txBody>
      </p:sp>
    </p:spTree>
    <p:extLst>
      <p:ext uri="{BB962C8B-B14F-4D97-AF65-F5344CB8AC3E}">
        <p14:creationId xmlns:p14="http://schemas.microsoft.com/office/powerpoint/2010/main" val="3121390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14A06-189A-99B2-E2AA-8554649EB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 for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B6345-49A3-B72E-39FD-36946D065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One-hot encoding of not binary categorical features</a:t>
            </a:r>
          </a:p>
          <a:p>
            <a:r>
              <a:rPr lang="en-US" dirty="0"/>
              <a:t>Scale standardization of numeric features</a:t>
            </a:r>
          </a:p>
          <a:p>
            <a:r>
              <a:rPr lang="en-US" dirty="0"/>
              <a:t>Training and testing data set split, test size=0.3</a:t>
            </a:r>
          </a:p>
          <a:p>
            <a:r>
              <a:rPr lang="en-US" dirty="0"/>
              <a:t>Data resampling for class imbalance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The Synthetic Minority Oversampling Technique (SMOTE)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Under-sampling with </a:t>
            </a:r>
            <a:r>
              <a:rPr lang="en-US" dirty="0" err="1"/>
              <a:t>RandomUnderSampler</a:t>
            </a:r>
            <a:r>
              <a:rPr lang="en-US" dirty="0"/>
              <a:t>: best in performance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Under-sampling by removing Tomek’s links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Under-sampling by </a:t>
            </a:r>
            <a:r>
              <a:rPr lang="en-US" dirty="0" err="1"/>
              <a:t>EditedNearestNeighbours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201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3B801-E02D-21C7-3D1F-C0DBFC197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720C5-B4CA-71B0-A747-81AB2EFD0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Classification modeling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Logistic Regression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Random Forest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K-Nearest Neighbor (KNN)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Gradient Boost</a:t>
            </a:r>
          </a:p>
          <a:p>
            <a:r>
              <a:rPr lang="en-US" dirty="0"/>
              <a:t>Stacking modeling</a:t>
            </a:r>
          </a:p>
          <a:p>
            <a:r>
              <a:rPr lang="en-US" dirty="0"/>
              <a:t>Neural network modeling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705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4D33E-00A2-35D6-73C1-1685849C8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E750A-326F-842E-01B4-F1E59B99D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Accuracy score</a:t>
            </a:r>
          </a:p>
          <a:p>
            <a:r>
              <a:rPr lang="en-US" dirty="0"/>
              <a:t>Precision score</a:t>
            </a:r>
          </a:p>
          <a:p>
            <a:r>
              <a:rPr lang="en-US" dirty="0"/>
              <a:t>Recall score</a:t>
            </a:r>
          </a:p>
          <a:p>
            <a:r>
              <a:rPr lang="en-US" dirty="0"/>
              <a:t>F1 score</a:t>
            </a:r>
          </a:p>
          <a:p>
            <a:r>
              <a:rPr lang="en-US" dirty="0"/>
              <a:t>ROC-AUC score</a:t>
            </a:r>
          </a:p>
          <a:p>
            <a:r>
              <a:rPr lang="en-US" dirty="0"/>
              <a:t>PR-AUC score</a:t>
            </a:r>
          </a:p>
          <a:p>
            <a:r>
              <a:rPr lang="en-US" dirty="0"/>
              <a:t>false negative vs false positive</a:t>
            </a:r>
          </a:p>
        </p:txBody>
      </p:sp>
    </p:spTree>
    <p:extLst>
      <p:ext uri="{BB962C8B-B14F-4D97-AF65-F5344CB8AC3E}">
        <p14:creationId xmlns:p14="http://schemas.microsoft.com/office/powerpoint/2010/main" val="634521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A660B-BC42-07A1-57CE-37C620DD7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Results Comparison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63DEA3F9-79D3-FC89-A064-DC2F56C1EC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989" y="1769842"/>
            <a:ext cx="7938483" cy="4534207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8F984DE-62DF-A3CC-2AE6-14651D250EAD}"/>
              </a:ext>
            </a:extLst>
          </p:cNvPr>
          <p:cNvSpPr/>
          <p:nvPr/>
        </p:nvSpPr>
        <p:spPr>
          <a:xfrm>
            <a:off x="6702357" y="3219855"/>
            <a:ext cx="593387" cy="209145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056841-8933-2E7E-56C5-9F0957A8D4BB}"/>
              </a:ext>
            </a:extLst>
          </p:cNvPr>
          <p:cNvSpPr/>
          <p:nvPr/>
        </p:nvSpPr>
        <p:spPr>
          <a:xfrm>
            <a:off x="5840682" y="4656306"/>
            <a:ext cx="593387" cy="209145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596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DCB65-7A2A-0029-9266-2656F05DE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Hyperparameters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7FE2A-CE77-CE1B-767B-405916365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dirty="0" err="1"/>
              <a:t>XGBClassifier</a:t>
            </a:r>
            <a:r>
              <a:rPr lang="en-US" dirty="0"/>
              <a:t> with </a:t>
            </a:r>
            <a:r>
              <a:rPr lang="en-US" dirty="0" err="1"/>
              <a:t>RandomUnderSampler</a:t>
            </a:r>
            <a:r>
              <a:rPr lang="en-US" dirty="0"/>
              <a:t> re-sampling, </a:t>
            </a:r>
            <a:r>
              <a:rPr lang="en-US" dirty="0" err="1"/>
              <a:t>RandomizedSearchCV</a:t>
            </a:r>
            <a:r>
              <a:rPr lang="en-US" dirty="0"/>
              <a:t> found best parameters: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Evaluate the best model on the test set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As we want to detect all the frauds and lower false negative rate, recall score is more important 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7C63E9-486E-FED5-5A58-2986D476F4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0397" y="4192975"/>
            <a:ext cx="8595360" cy="567166"/>
          </a:xfrm>
          <a:prstGeom prst="rect">
            <a:avLst/>
          </a:prstGeom>
        </p:spPr>
      </p:pic>
      <p:pic>
        <p:nvPicPr>
          <p:cNvPr id="7" name="Picture 6" descr="A close up of a number&#10;&#10;AI-generated content may be incorrect.">
            <a:extLst>
              <a:ext uri="{FF2B5EF4-FFF2-40B4-BE49-F238E27FC236}">
                <a16:creationId xmlns:a16="http://schemas.microsoft.com/office/drawing/2014/main" id="{FA41576E-67A6-D42B-42FB-E3F5F3452F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0397" y="2772979"/>
            <a:ext cx="3820028" cy="56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30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6A8C2-6EBC-4A89-51C8-55C6BD3B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4A33D-B523-D77F-D6EB-D4A9EF23F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best </a:t>
            </a:r>
            <a:r>
              <a:rPr lang="en-US" dirty="0" err="1"/>
              <a:t>XGBoost</a:t>
            </a:r>
            <a:r>
              <a:rPr lang="en-US" dirty="0"/>
              <a:t> model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442FEF4-77F2-7702-2902-EBF791502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2202100"/>
            <a:ext cx="843915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042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EED29-0033-432E-6375-1C31FD094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8A14B-2144-0689-B371-E3EEF43AD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915209" cy="340468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Reducing false negative is more important to the nature of the banking fraud question</a:t>
            </a:r>
          </a:p>
          <a:p>
            <a:r>
              <a:rPr lang="en-US" dirty="0"/>
              <a:t>Accuracy score is not a good choice of metrics due to the type imbalance</a:t>
            </a:r>
          </a:p>
          <a:p>
            <a:r>
              <a:rPr lang="en-US" dirty="0" err="1"/>
              <a:t>RandomUnderSampler</a:t>
            </a:r>
            <a:r>
              <a:rPr lang="en-US" dirty="0"/>
              <a:t> </a:t>
            </a:r>
            <a:r>
              <a:rPr lang="en-US" dirty="0" err="1"/>
              <a:t>XGBoost</a:t>
            </a:r>
            <a:r>
              <a:rPr lang="en-US" dirty="0"/>
              <a:t> modeling performed best and gave a recall score of 0.806</a:t>
            </a:r>
          </a:p>
          <a:p>
            <a:r>
              <a:rPr lang="en-US" dirty="0" err="1"/>
              <a:t>TomLinksUnderSampler_RegisticRegression</a:t>
            </a:r>
            <a:r>
              <a:rPr lang="en-US" dirty="0"/>
              <a:t> </a:t>
            </a:r>
            <a:r>
              <a:rPr lang="en-US" dirty="0" err="1"/>
              <a:t>perfomed</a:t>
            </a:r>
            <a:r>
              <a:rPr lang="en-US" dirty="0"/>
              <a:t> best for precision score as 0.571, although it’s not our focus</a:t>
            </a:r>
          </a:p>
          <a:p>
            <a:r>
              <a:rPr lang="en-US" dirty="0"/>
              <a:t>Stacking modeling and deep learning model was also tried, but didn’t improve performance a lot, probably due to data limitation and imbalanced data</a:t>
            </a:r>
          </a:p>
        </p:txBody>
      </p:sp>
    </p:spTree>
    <p:extLst>
      <p:ext uri="{BB962C8B-B14F-4D97-AF65-F5344CB8AC3E}">
        <p14:creationId xmlns:p14="http://schemas.microsoft.com/office/powerpoint/2010/main" val="2012117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83CD0-6B45-D1D2-103E-9FF0BADE4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3A380-5DB2-9FBB-A56A-BA6A5E3FC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9535830" cy="4351337"/>
          </a:xfrm>
        </p:spPr>
        <p:txBody>
          <a:bodyPr/>
          <a:lstStyle/>
          <a:p>
            <a:r>
              <a:rPr lang="en-US" dirty="0"/>
              <a:t>More data will be collected, or data sets will be added to improve modeling results</a:t>
            </a:r>
          </a:p>
          <a:p>
            <a:r>
              <a:rPr lang="en-US" dirty="0"/>
              <a:t>Real time prediction system to alert bank account activities.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824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0A808-882C-C990-D556-489F3AEDE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866A9-70B8-3033-56B0-107914791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model can catch most of the fraud bank account activities and help to minimize financial loss to banks.</a:t>
            </a:r>
          </a:p>
        </p:txBody>
      </p:sp>
    </p:spTree>
    <p:extLst>
      <p:ext uri="{BB962C8B-B14F-4D97-AF65-F5344CB8AC3E}">
        <p14:creationId xmlns:p14="http://schemas.microsoft.com/office/powerpoint/2010/main" val="20603060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7B713C7F-58B7-4AE9-B361-B13EB9EC4C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1303</TotalTime>
  <Words>614</Words>
  <Application>Microsoft Office PowerPoint</Application>
  <PresentationFormat>Widescreen</PresentationFormat>
  <Paragraphs>103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 Narrow</vt:lpstr>
      <vt:lpstr>Arial</vt:lpstr>
      <vt:lpstr>Century Schoolbook</vt:lpstr>
      <vt:lpstr>Courier New</vt:lpstr>
      <vt:lpstr>Wingdings 2</vt:lpstr>
      <vt:lpstr>View</vt:lpstr>
      <vt:lpstr>Fraud detection of bank accounts</vt:lpstr>
      <vt:lpstr>Agenda</vt:lpstr>
      <vt:lpstr>Problem Overview</vt:lpstr>
      <vt:lpstr>Data Source</vt:lpstr>
      <vt:lpstr>Data Wrangling</vt:lpstr>
      <vt:lpstr>Data Wrangling</vt:lpstr>
      <vt:lpstr>Exploratory Data Analysis (EDA)</vt:lpstr>
      <vt:lpstr>Preprocessing for Modeling</vt:lpstr>
      <vt:lpstr>Modeling Methods</vt:lpstr>
      <vt:lpstr>Evaluation Metrics</vt:lpstr>
      <vt:lpstr>Modeling Results Comparison</vt:lpstr>
      <vt:lpstr>Hyperparameters Tuning</vt:lpstr>
      <vt:lpstr>Feature Importance</vt:lpstr>
      <vt:lpstr>Conclusion</vt:lpstr>
      <vt:lpstr>Future work</vt:lpstr>
      <vt:lpstr>Business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Jinhui Shen</dc:creator>
  <cp:lastModifiedBy>Jinhui Shen</cp:lastModifiedBy>
  <cp:revision>11</cp:revision>
  <dcterms:created xsi:type="dcterms:W3CDTF">2025-01-22T15:46:52Z</dcterms:created>
  <dcterms:modified xsi:type="dcterms:W3CDTF">2025-03-24T18:09:01Z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2025-01-22T16:31:49Z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91c48a14-617d-486b-a58b-a508b947d9fd</vt:lpwstr>
  </property>
  <property fmtid="{D5CDD505-2E9C-101B-9397-08002B2CF9AE}" pid="7" name="MSIP_Label_defa4170-0d19-0005-0004-bc88714345d2_ActionId">
    <vt:lpwstr>cfbf44bf-f690-4497-bcaa-e49f889103f1</vt:lpwstr>
  </property>
  <property fmtid="{D5CDD505-2E9C-101B-9397-08002B2CF9AE}" pid="8" name="MSIP_Label_defa4170-0d19-0005-0004-bc88714345d2_ContentBits">
    <vt:lpwstr>0</vt:lpwstr>
  </property>
</Properties>
</file>